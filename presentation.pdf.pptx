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3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0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22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7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2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2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2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9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8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FBCA8-295C-48BC-B33A-203CD52B8638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51912-4187-422B-8436-5188EC478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2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Title</a:t>
            </a:r>
            <a:r>
              <a:rPr lang="en-US" dirty="0" smtClean="0"/>
              <a:t> : Strategic Vaccination Targeting via Predictive Analytics    </a:t>
            </a:r>
          </a:p>
          <a:p>
            <a:r>
              <a:rPr lang="en-US" b="1" dirty="0" smtClean="0"/>
              <a:t>Presenter </a:t>
            </a:r>
            <a:r>
              <a:rPr lang="en-US" dirty="0" smtClean="0"/>
              <a:t>: </a:t>
            </a:r>
            <a:r>
              <a:rPr lang="en-US" dirty="0" err="1" smtClean="0"/>
              <a:t>Kamuri</a:t>
            </a:r>
            <a:r>
              <a:rPr lang="en-US" dirty="0" smtClean="0"/>
              <a:t> Dennis </a:t>
            </a:r>
            <a:r>
              <a:rPr lang="en-US" dirty="0" err="1" smtClean="0"/>
              <a:t>Nderitu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Goal:</a:t>
            </a:r>
            <a:r>
              <a:rPr lang="en-US" dirty="0" smtClean="0"/>
              <a:t> To identify the key drivers of vaccine uptake and build a predictive tool to optimize public health outreach for H1N1 and Seasonal Flu.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1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Business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The Challenge:</a:t>
            </a:r>
            <a:r>
              <a:rPr lang="en-US" dirty="0" smtClean="0"/>
              <a:t> Public health resources are limited. Sending generic mailers or ads to everyone is expensive and often ignored.</a:t>
            </a:r>
          </a:p>
          <a:p>
            <a:pPr marL="0" indent="0">
              <a:buNone/>
            </a:pPr>
            <a:r>
              <a:rPr lang="en-US" b="1" dirty="0" smtClean="0"/>
              <a:t>The Solution:</a:t>
            </a:r>
            <a:r>
              <a:rPr lang="en-US" dirty="0" smtClean="0"/>
              <a:t> Use historical survey data to "profile" who is likely to vaccinate and, more importantly, </a:t>
            </a:r>
            <a:r>
              <a:rPr lang="en-US" b="1" dirty="0" smtClean="0"/>
              <a:t>why</a:t>
            </a:r>
            <a:r>
              <a:rPr lang="en-US" dirty="0" smtClean="0"/>
              <a:t>. This allows us to:</a:t>
            </a:r>
          </a:p>
          <a:p>
            <a:r>
              <a:rPr lang="en-US" dirty="0" smtClean="0"/>
              <a:t>Identify high-risk groups who are hesitant.</a:t>
            </a:r>
          </a:p>
          <a:p>
            <a:r>
              <a:rPr lang="en-US" dirty="0" smtClean="0"/>
              <a:t>Focus budget on the most effective communication channels.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97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Understanding &amp; Evidence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We analyzed 26,707 survey responses. A major finding was the "hidden data.“</a:t>
            </a:r>
          </a:p>
          <a:p>
            <a:r>
              <a:rPr lang="en-US" b="1" dirty="0" smtClean="0"/>
              <a:t>Missing Information:</a:t>
            </a:r>
            <a:r>
              <a:rPr lang="en-US" dirty="0" smtClean="0"/>
              <a:t> Nearly 50% of respondents didn't list their insurance or occupation.</a:t>
            </a:r>
          </a:p>
          <a:p>
            <a:r>
              <a:rPr lang="en-US" b="1" dirty="0" smtClean="0"/>
              <a:t>The Insight:</a:t>
            </a:r>
            <a:r>
              <a:rPr lang="en-US" dirty="0" smtClean="0"/>
              <a:t> Instead of ignoring these people, our model treats "Missing Information" as a unique behavioral group. This ensures our outreach is inclusive of those who may be harder to reach.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85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Finding—The "Doctor Effect"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The Evidence:</a:t>
            </a:r>
            <a:r>
              <a:rPr lang="en-US" dirty="0" smtClean="0"/>
              <a:t> Our data shows that a recommendation from a healthcare provider is the </a:t>
            </a:r>
            <a:r>
              <a:rPr lang="en-US" b="1" dirty="0" smtClean="0"/>
              <a:t>single most powerful predictor</a:t>
            </a:r>
            <a:r>
              <a:rPr lang="en-US" dirty="0" smtClean="0"/>
              <a:t> of vaccination.</a:t>
            </a:r>
          </a:p>
          <a:p>
            <a:r>
              <a:rPr lang="en-US" b="1" dirty="0" smtClean="0"/>
              <a:t>Without Recommendation:</a:t>
            </a:r>
            <a:r>
              <a:rPr lang="en-US" dirty="0" smtClean="0"/>
              <a:t> ~15% vaccination rate.</a:t>
            </a:r>
          </a:p>
          <a:p>
            <a:r>
              <a:rPr lang="en-US" b="1" dirty="0" smtClean="0"/>
              <a:t>With Recommendation:</a:t>
            </a:r>
            <a:r>
              <a:rPr lang="en-US" dirty="0" smtClean="0"/>
              <a:t> ~50% vaccination rate.</a:t>
            </a:r>
          </a:p>
          <a:p>
            <a:pPr marL="0" indent="0">
              <a:buNone/>
            </a:pPr>
            <a:r>
              <a:rPr lang="en-US" b="1" dirty="0" smtClean="0"/>
              <a:t>Strategic Impact:</a:t>
            </a:r>
            <a:r>
              <a:rPr lang="en-US" dirty="0" smtClean="0"/>
              <a:t> We shouldn't just talk to patients; we need to empower doctors.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08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Predictive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How it Works:</a:t>
            </a:r>
            <a:r>
              <a:rPr lang="en-US" dirty="0" smtClean="0"/>
              <a:t> We used a </a:t>
            </a:r>
            <a:r>
              <a:rPr lang="en-US" b="1" dirty="0" smtClean="0"/>
              <a:t>Random Forest Ensemble</a:t>
            </a:r>
            <a:r>
              <a:rPr lang="en-US" dirty="0" smtClean="0"/>
              <a:t> model.</a:t>
            </a:r>
            <a:endParaRPr lang="en-US" dirty="0"/>
          </a:p>
          <a:p>
            <a:r>
              <a:rPr lang="en-US" b="1" dirty="0" smtClean="0"/>
              <a:t>Non-Technical Explanation:</a:t>
            </a:r>
            <a:r>
              <a:rPr lang="en-US" dirty="0" smtClean="0"/>
              <a:t> Think of the model as a "Council of 250 Experts." Each expert looks at different factors (age, concern, education) and votes on the likelihood of a person getting vaccinated. We take the average of these votes for the final prediction.</a:t>
            </a:r>
          </a:p>
          <a:p>
            <a:r>
              <a:rPr lang="en-US" dirty="0" smtClean="0"/>
              <a:t>Why this model? It is excellent at finding "hidden links"—for example, how "Concern level" impacts a "College Graduate" differently than a "High School Graduate.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809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&amp;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The Metric:</a:t>
            </a:r>
            <a:r>
              <a:rPr lang="en-US" dirty="0" smtClean="0"/>
              <a:t> We measured success using </a:t>
            </a:r>
            <a:r>
              <a:rPr lang="en-US" b="1" dirty="0" smtClean="0"/>
              <a:t>ROC-AUC (84.5%)</a:t>
            </a:r>
            <a:r>
              <a:rPr lang="en-US" dirty="0" smtClean="0"/>
              <a:t>.</a:t>
            </a:r>
          </a:p>
          <a:p>
            <a:r>
              <a:rPr lang="en-US" dirty="0" smtClean="0"/>
              <a:t>What this means for you: If we pick two people—one who vaccinated and one who didn't—our model will correctly identify the vaccinated person 84.5% of the time.</a:t>
            </a:r>
          </a:p>
          <a:p>
            <a:r>
              <a:rPr lang="en-US" dirty="0" smtClean="0"/>
              <a:t> Evidence of Reliability: We tested the model on data it had never seen before to ensure these results are realistic for next year's flu season.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02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Based on the model's "Feature Importance," here is what the health department should do:</a:t>
            </a:r>
          </a:p>
          <a:p>
            <a:r>
              <a:rPr lang="en-US" b="1" dirty="0" smtClean="0"/>
              <a:t>Provider Incentives:</a:t>
            </a:r>
            <a:r>
              <a:rPr lang="en-US" dirty="0" smtClean="0"/>
              <a:t> Launch a "Talk to Your Patient" initiative for doctors. A 5-minute conversation with a GP is more effective than a billboard.</a:t>
            </a:r>
          </a:p>
          <a:p>
            <a:r>
              <a:rPr lang="en-US" b="1" dirty="0" smtClean="0"/>
              <a:t>Risk Education:</a:t>
            </a:r>
            <a:r>
              <a:rPr lang="en-US" dirty="0" smtClean="0"/>
              <a:t> "Perceived Risk" was a top feature. Campaigns should emphasize the health risks of the flu itself rather than just the safety of the vaccine.</a:t>
            </a:r>
          </a:p>
          <a:p>
            <a:r>
              <a:rPr lang="en-US" b="1" dirty="0" smtClean="0"/>
              <a:t>Targeted Digital Ads:</a:t>
            </a:r>
            <a:r>
              <a:rPr lang="en-US" dirty="0" smtClean="0"/>
              <a:t> Use the model to serve digital ads to "High Concern/Low Knowledge" groups, as they are the most likely to convert with a little more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24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&amp; 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Limitation:</a:t>
            </a:r>
            <a:r>
              <a:rPr lang="en-US" dirty="0" smtClean="0"/>
              <a:t> The data reflects 2009 sentiments. Post-2020 vaccine sentiment may have changed.</a:t>
            </a:r>
          </a:p>
          <a:p>
            <a:r>
              <a:rPr lang="en-US" b="1" dirty="0" smtClean="0"/>
              <a:t>Next Step:</a:t>
            </a:r>
            <a:r>
              <a:rPr lang="en-US" dirty="0" smtClean="0"/>
              <a:t> We recommend a "Pilot Program" using this model in one city to measure the actual increase in uptake before a nationwide rollout.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24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   Thank you!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2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582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PROJECT OVERVIEW</vt:lpstr>
      <vt:lpstr>The Business Problem</vt:lpstr>
      <vt:lpstr>Data Understanding &amp; Evidence</vt:lpstr>
      <vt:lpstr>Key Finding—The "Doctor Effect"</vt:lpstr>
      <vt:lpstr>The Predictive Model</vt:lpstr>
      <vt:lpstr>Performance &amp; Evaluation</vt:lpstr>
      <vt:lpstr>3 Recommendations</vt:lpstr>
      <vt:lpstr>Limitations &amp; Next Steps</vt:lpstr>
      <vt:lpstr>                        Thank you!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creator>Microsoft account</dc:creator>
  <cp:lastModifiedBy>Microsoft account</cp:lastModifiedBy>
  <cp:revision>4</cp:revision>
  <dcterms:created xsi:type="dcterms:W3CDTF">2026-03-19T01:31:44Z</dcterms:created>
  <dcterms:modified xsi:type="dcterms:W3CDTF">2026-03-19T01:54:34Z</dcterms:modified>
</cp:coreProperties>
</file>